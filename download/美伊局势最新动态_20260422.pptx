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040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7950" y="1507629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850529"/>
            <a:ext cx="8595360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Aft>
                <a:spcPts val="1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美伊局势最新动态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39233" y="2607320"/>
            <a:ext cx="426553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3200"/>
              </a:spcAft>
              <a:buNone/>
            </a:pPr>
            <a:r>
              <a:rPr lang="en-US" sz="20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停火延长、谈判僵局与军事摩擦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42834" y="3369171"/>
            <a:ext cx="3858183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2026年4月19日 — 4月22日 · 新闻汇编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63600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96801"/>
            <a:ext cx="86360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468338"/>
            <a:ext cx="8128099" cy="660350"/>
          </a:xfrm>
          <a:prstGeom prst="roundRect">
            <a:avLst>
              <a:gd name="adj" fmla="val 19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19033" y="1620589"/>
            <a:ext cx="57548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1851" y="1620738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7652" y="1674614"/>
            <a:ext cx="28346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特朗普宣布无限期延长停火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2230189"/>
            <a:ext cx="8128099" cy="660350"/>
          </a:xfrm>
          <a:prstGeom prst="roundRect">
            <a:avLst>
              <a:gd name="adj" fmla="val 19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19033" y="2382441"/>
            <a:ext cx="57548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61851" y="2382589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7652" y="2436465"/>
            <a:ext cx="22288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第二轮谈判悬而未决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950" y="2992041"/>
            <a:ext cx="8128099" cy="660350"/>
          </a:xfrm>
          <a:prstGeom prst="roundRect">
            <a:avLst>
              <a:gd name="adj" fmla="val 19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19033" y="3144292"/>
            <a:ext cx="57548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1851" y="3144441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7652" y="3198316"/>
            <a:ext cx="33718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霍尔木兹海峡摩擦与伊朗内部分歧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950" y="3753892"/>
            <a:ext cx="8128099" cy="660350"/>
          </a:xfrm>
          <a:prstGeom prst="roundRect">
            <a:avLst>
              <a:gd name="adj" fmla="val 19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19033" y="3906143"/>
            <a:ext cx="57548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1851" y="3906292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77652" y="3960168"/>
            <a:ext cx="22288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局势走向与未来展望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1450"/>
            <a:ext cx="399132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特朗普宣布无限期延长停火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632198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606897"/>
            <a:ext cx="847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停火无限期延长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3001" y="1911697"/>
            <a:ext cx="8361201" cy="55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4月21日，特朗普宣布将无限期延长与伊朗的停火协议，直到伊朗提交提案且谈判完成为止。此前为期两周的停火原定于4月22日晚到期。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600771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2575471"/>
            <a:ext cx="847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军事威胁持续施压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3001" y="2880271"/>
            <a:ext cx="8470999" cy="27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特朗普在停火到期前一天再次以军事力量威胁伊朗，称若未能达成协议，"大量炸弹将开始引爆"。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3313658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3288357"/>
            <a:ext cx="847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巴基斯坦愿做东道主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001" y="3593157"/>
            <a:ext cx="8470999" cy="27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巴基斯坦正准备在伊斯兰堡主办美伊第二轮会谈，但伊朗方面尚未确认是否派代表团参加。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4795540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来源：德国之声、美联社、新浪财经 | 2026年4月21日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651"/>
            <a:ext cx="381000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第二轮谈判：悬而未决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780901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96702"/>
            <a:ext cx="8128099" cy="800100"/>
          </a:xfrm>
          <a:prstGeom prst="roundRect">
            <a:avLst>
              <a:gd name="adj" fmla="val 1269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1586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158" y="1214140"/>
            <a:ext cx="13370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7677" y="1158627"/>
            <a:ext cx="1981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首轮谈判无果而终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7677" y="1415802"/>
            <a:ext cx="77726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4月11-12日在阿曼举行的首轮和解谈判未能达成协议，双方在核问题、制裁解除等核心议题上分歧巨大。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1923752"/>
            <a:ext cx="8128099" cy="800100"/>
          </a:xfrm>
          <a:prstGeom prst="roundRect">
            <a:avLst>
              <a:gd name="adj" fmla="val 1269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20856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7158" y="2141190"/>
            <a:ext cx="13370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7677" y="2085677"/>
            <a:ext cx="1981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谈判风格正面碰撞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7677" y="2342852"/>
            <a:ext cx="649474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美国追求"立竿见影"的快速交易模式，伊朗则采取"长期博弈"策略，谈判文化差异显著。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2850803"/>
            <a:ext cx="8128099" cy="800100"/>
          </a:xfrm>
          <a:prstGeom prst="roundRect">
            <a:avLst>
              <a:gd name="adj" fmla="val 1269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0626" y="30127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7158" y="3068241"/>
            <a:ext cx="13370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7677" y="3012728"/>
            <a:ext cx="1981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伊朗态度谨慎观望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7677" y="3269903"/>
            <a:ext cx="687324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伊朗议会主席表示，若收到美方积极信号将派代表团，但目前尚未正式确认参与第二轮会谈。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1450"/>
            <a:ext cx="476064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霍尔木兹海峡摩擦与伊朗内部分歧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605409"/>
            <a:ext cx="3936950" cy="105906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605409"/>
            <a:ext cx="0" cy="1059061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726" y="1757809"/>
            <a:ext cx="424929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海峡"开了又关"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726" y="2039689"/>
            <a:ext cx="3657176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伊朗宣布向商船开放霍尔木兹海峡后又迅速变卦，暴露政治领导层与军方强硬派之间的深刻分歧。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791420"/>
            <a:ext cx="3936950" cy="105906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791420"/>
            <a:ext cx="0" cy="1059061"/>
          </a:xfrm>
          <a:prstGeom prst="line">
            <a:avLst/>
          </a:prstGeom>
          <a:noFill/>
          <a:ln w="47625">
            <a:solidFill>
              <a:srgbClr val="D7A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726" y="2943820"/>
            <a:ext cx="424929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美军扣押伊朗货船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726" y="3225701"/>
            <a:ext cx="3657176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4月19日美军在阿曼湾袭击伊朗货船并扣押船只及船员，伊朗外交部强烈谴责并要求立即放人。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2602" y="1605409"/>
            <a:ext cx="3936950" cy="105906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6414" y="1605409"/>
            <a:ext cx="0" cy="1059061"/>
          </a:xfrm>
          <a:prstGeom prst="line">
            <a:avLst/>
          </a:prstGeom>
          <a:noFill/>
          <a:ln w="47625">
            <a:solidFill>
              <a:srgbClr val="6C9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377" y="1757809"/>
            <a:ext cx="424929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伊朗公开展示导弹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377" y="2039689"/>
            <a:ext cx="3657176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停火期限逼近之际，伊朗公开举行导弹展示活动，释放强硬信号，向美方施压。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2602" y="2791420"/>
            <a:ext cx="3936950" cy="105906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6414" y="2791420"/>
            <a:ext cx="0" cy="1059061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377" y="2943820"/>
            <a:ext cx="404030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中国对伊朗的多线支持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377" y="3225701"/>
            <a:ext cx="3657176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美国之音报道，美以联合打击后，中国通过规避制裁等方式持续为伊朗提供支持。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950" y="4795540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来源：联合早报、文汇报、美国之音 | 2026年4月19-22日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1450"/>
            <a:ext cx="3130597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局势走向：四种可能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29358"/>
            <a:ext cx="3911501" cy="1135112"/>
          </a:xfrm>
          <a:prstGeom prst="roundRect">
            <a:avLst>
              <a:gd name="adj" fmla="val 8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77179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1707059"/>
            <a:ext cx="184808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方案一：谈判达成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2014389"/>
            <a:ext cx="3680460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伊朗提交提案，双方在伊斯兰堡举行第二轮会谈，逐步就核问题与制裁解除达成框架协议。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46402" y="1529358"/>
            <a:ext cx="3911501" cy="1135112"/>
          </a:xfrm>
          <a:prstGeom prst="roundRect">
            <a:avLst>
              <a:gd name="adj" fmla="val 8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9552" y="177179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7A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7253" y="1707059"/>
            <a:ext cx="184808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方案二：长期僵持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49552" y="2014389"/>
            <a:ext cx="3680460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停火虽延长但进展缓慢，双方保持"打打谈谈"模式，霍尔木兹海峡低烈度摩擦不断。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2791420"/>
            <a:ext cx="3911501" cy="1135112"/>
          </a:xfrm>
          <a:prstGeom prst="roundRect">
            <a:avLst>
              <a:gd name="adj" fmla="val 8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101" y="30338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6C92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802" y="2969121"/>
            <a:ext cx="184808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方案三：冲突升级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101" y="3276451"/>
            <a:ext cx="3680460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若谈判彻底破裂，美伊军事对峙加剧，战火可能重燃，空袭与导弹反击局面再度出现。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6402" y="2791420"/>
            <a:ext cx="3911501" cy="1135112"/>
          </a:xfrm>
          <a:prstGeom prst="roundRect">
            <a:avLst>
              <a:gd name="adj" fmla="val 8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49552" y="30338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7253" y="2969121"/>
            <a:ext cx="220349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方案四：伊朗内部变局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49552" y="3276451"/>
            <a:ext cx="3680460" cy="51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政治领导层与军方分歧扩大，强硬派可能采取更激进行动，导致局势脱离谈判轨道。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950" y="4795540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综合来源：新华社、澎湃新闻、路透社 | 2026年4月20日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925389"/>
            <a:ext cx="2912480" cy="11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3600" dirty="0"/>
          </a:p>
          <a:p>
            <a:pPr algn="l" indent="0" marL="0">
              <a:lnSpc>
                <a:spcPts val="414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3637062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09851" y="962620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87552" y="911870"/>
            <a:ext cx="511334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4月8日 — 美伊临时停火两周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87552" y="1186160"/>
            <a:ext cx="511334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美以军事打击后，双方开始为期两周的临时停火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09851" y="1662113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87552" y="1611362"/>
            <a:ext cx="511334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4月11-12日 — 首轮谈判无果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87552" y="1885652"/>
            <a:ext cx="511334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在阿曼举行的间接谈判未能达成任何协议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851" y="2361605"/>
            <a:ext cx="50750" cy="457200"/>
          </a:xfrm>
          <a:prstGeom prst="roundRect">
            <a:avLst>
              <a:gd name="adj" fmla="val 50049"/>
            </a:avLst>
          </a:prstGeom>
          <a:solidFill>
            <a:srgbClr val="D7A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87552" y="2310854"/>
            <a:ext cx="511334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4月19日 — 美军扣押伊朗货船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87552" y="2585145"/>
            <a:ext cx="511334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在阿曼湾拦截"图斯卡"号，紧张局势升级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09851" y="306109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D7A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87552" y="3010346"/>
            <a:ext cx="511334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4月20-21日 — 特朗普发出最后通牒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87552" y="3284637"/>
            <a:ext cx="511334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威胁"大量炸弹将开始引爆"，要求伊朗重返谈判桌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9851" y="376058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87552" y="3709839"/>
            <a:ext cx="511334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4月21日 — 宣布无限期延长停火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87552" y="3984129"/>
            <a:ext cx="511334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局势出现缓和信号，等待伊朗正式回应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03361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40864" y="1465362"/>
            <a:ext cx="4462272" cy="5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局势仍在持续演变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67200" y="2267843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18885" y="2559844"/>
            <a:ext cx="4906082" cy="105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停火虽已延长，但美伊双方在核心议题上分歧犹存。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后续发展取决于伊朗是否重返谈判桌，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以及双方能否找到妥协空间。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86758" y="3941266"/>
            <a:ext cx="232499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200"/>
              </a:spcBef>
              <a:buNone/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新闻汇编 · 2026年4月22日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2026-04-22T08:27:36Z</dcterms:created>
  <dcterms:modified xsi:type="dcterms:W3CDTF">2026-04-22T08:27:36Z</dcterms:modified>
</cp:coreProperties>
</file>